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56500"/>
  <p:notesSz cx="6858000" cy="9144000"/>
  <p:embeddedFontLst>
    <p:embeddedFont>
      <p:font typeface="Open Sans" charset="1" panose="020B0606030504020204"/>
      <p:regular r:id="rId17"/>
    </p:embeddedFont>
    <p:embeddedFont>
      <p:font typeface="IBM Plex Sans Condensed" charset="1" panose="020B0506050203000203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56860" y="772668"/>
            <a:ext cx="5292852" cy="5983224"/>
            <a:chOff x="0" y="0"/>
            <a:chExt cx="7057136" cy="7977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57136" cy="7977632"/>
            </a:xfrm>
            <a:custGeom>
              <a:avLst/>
              <a:gdLst/>
              <a:ahLst/>
              <a:cxnLst/>
              <a:rect r="r" b="b" t="t" l="l"/>
              <a:pathLst>
                <a:path h="7977632" w="7057136">
                  <a:moveTo>
                    <a:pt x="0" y="0"/>
                  </a:moveTo>
                  <a:lnTo>
                    <a:pt x="7057136" y="0"/>
                  </a:lnTo>
                  <a:lnTo>
                    <a:pt x="7057136" y="7977632"/>
                  </a:lnTo>
                  <a:lnTo>
                    <a:pt x="0" y="797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61979" y="710689"/>
            <a:ext cx="424177" cy="358645"/>
          </a:xfrm>
          <a:custGeom>
            <a:avLst/>
            <a:gdLst/>
            <a:ahLst/>
            <a:cxnLst/>
            <a:rect r="r" b="b" t="t" l="l"/>
            <a:pathLst>
              <a:path h="358645" w="424177">
                <a:moveTo>
                  <a:pt x="0" y="0"/>
                </a:moveTo>
                <a:lnTo>
                  <a:pt x="424177" y="0"/>
                </a:lnTo>
                <a:lnTo>
                  <a:pt x="424177" y="358645"/>
                </a:lnTo>
                <a:lnTo>
                  <a:pt x="0" y="358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09616" y="772668"/>
            <a:ext cx="47244" cy="5983224"/>
            <a:chOff x="0" y="0"/>
            <a:chExt cx="47244" cy="59832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44" cy="5983224"/>
            </a:xfrm>
            <a:custGeom>
              <a:avLst/>
              <a:gdLst/>
              <a:ahLst/>
              <a:cxnLst/>
              <a:rect r="r" b="b" t="t" l="l"/>
              <a:pathLst>
                <a:path h="5983224" w="47244">
                  <a:moveTo>
                    <a:pt x="0" y="0"/>
                  </a:moveTo>
                  <a:lnTo>
                    <a:pt x="47244" y="0"/>
                  </a:lnTo>
                  <a:lnTo>
                    <a:pt x="47244" y="5983224"/>
                  </a:lnTo>
                  <a:lnTo>
                    <a:pt x="0" y="5983224"/>
                  </a:lnTo>
                  <a:close/>
                </a:path>
              </a:pathLst>
            </a:custGeom>
            <a:solidFill>
              <a:srgbClr val="E4693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2366" y="1341511"/>
            <a:ext cx="3827355" cy="139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6" spc="-4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VIT BHOPAL UNIVERSITY</a:t>
            </a:r>
          </a:p>
          <a:p>
            <a:pPr algn="l">
              <a:lnSpc>
                <a:spcPts val="4525"/>
              </a:lnSpc>
            </a:pPr>
            <a:r>
              <a:rPr lang="en-US" sz="3767" spc="-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CAMPUS DIGITAL TWIN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6863" y="3085576"/>
            <a:ext cx="3961028" cy="81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</a:pPr>
            <a:r>
              <a:rPr lang="en-US" sz="1752" spc="26">
                <a:solidFill>
                  <a:srgbClr val="DAE5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living digital representation of the VIT Bhopal campus —built to help students discover, navigate and connect.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0579" y="4210650"/>
            <a:ext cx="55226" cy="35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3485" y="4460300"/>
            <a:ext cx="2615136" cy="1112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224" spc="-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~by</a:t>
            </a:r>
          </a:p>
          <a:p>
            <a:pPr algn="r">
              <a:lnSpc>
                <a:spcPts val="1470"/>
              </a:lnSpc>
            </a:pPr>
            <a:r>
              <a:rPr lang="en-US" sz="1224" spc="-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ADITYA BAKSHI(25BCE10475)</a:t>
            </a:r>
          </a:p>
          <a:p>
            <a:pPr algn="r">
              <a:lnSpc>
                <a:spcPts val="1470"/>
              </a:lnSpc>
            </a:pPr>
            <a:r>
              <a:rPr lang="en-US" sz="1224" spc="-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SUNIL MATWA(25BCE10466)</a:t>
            </a:r>
          </a:p>
          <a:p>
            <a:pPr algn="r">
              <a:lnSpc>
                <a:spcPts val="1470"/>
              </a:lnSpc>
            </a:pPr>
            <a:r>
              <a:rPr lang="en-US" sz="1224" spc="-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DHEERAJ KUMARMAHTO(25BCE10465) KANAV LUTHRA(25BCE10417)</a:t>
            </a:r>
          </a:p>
          <a:p>
            <a:pPr algn="r">
              <a:lnSpc>
                <a:spcPts val="1470"/>
              </a:lnSpc>
            </a:pPr>
            <a:r>
              <a:rPr lang="en-US" sz="1224" spc="-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PRIYAM MANGLA(25BCE10415)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777" y="4210650"/>
            <a:ext cx="3044057" cy="35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EXHIBITION - 1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659" y="6065768"/>
            <a:ext cx="4169140" cy="2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752" spc="-19">
                <a:solidFill>
                  <a:srgbClr val="BECFE0"/>
                </a:solidFill>
                <a:latin typeface="Open Sans"/>
                <a:ea typeface="Open Sans"/>
                <a:cs typeface="Open Sans"/>
                <a:sym typeface="Open Sans"/>
              </a:rPr>
              <a:t>From physical campus → digital experience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B4C3D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4354" y="911590"/>
            <a:ext cx="1482690" cy="29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75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(TEAM NO.157)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" y="765143"/>
            <a:ext cx="278616" cy="22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"/>
              </a:lnSpc>
            </a:pPr>
            <a:r>
              <a:rPr lang="en-US" sz="1223" spc="1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AB1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668"/>
            <a:ext cx="10692384" cy="6013704"/>
            <a:chOff x="0" y="0"/>
            <a:chExt cx="10692384" cy="6013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2383" cy="6013704"/>
            </a:xfrm>
            <a:custGeom>
              <a:avLst/>
              <a:gdLst/>
              <a:ahLst/>
              <a:cxnLst/>
              <a:rect r="r" b="b" t="t" l="l"/>
              <a:pathLst>
                <a:path h="6013704" w="10692383">
                  <a:moveTo>
                    <a:pt x="0" y="0"/>
                  </a:moveTo>
                  <a:lnTo>
                    <a:pt x="10692383" y="0"/>
                  </a:lnTo>
                  <a:lnTo>
                    <a:pt x="10692383" y="6013704"/>
                  </a:lnTo>
                  <a:lnTo>
                    <a:pt x="0" y="60137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7596" y="2337816"/>
            <a:ext cx="4931664" cy="3648456"/>
            <a:chOff x="0" y="0"/>
            <a:chExt cx="6575552" cy="4864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5552" cy="4864608"/>
            </a:xfrm>
            <a:custGeom>
              <a:avLst/>
              <a:gdLst/>
              <a:ahLst/>
              <a:cxnLst/>
              <a:rect r="r" b="b" t="t" l="l"/>
              <a:pathLst>
                <a:path h="4864608" w="6575552">
                  <a:moveTo>
                    <a:pt x="0" y="0"/>
                  </a:moveTo>
                  <a:lnTo>
                    <a:pt x="6575552" y="0"/>
                  </a:lnTo>
                  <a:lnTo>
                    <a:pt x="6575552" y="4864608"/>
                  </a:lnTo>
                  <a:lnTo>
                    <a:pt x="0" y="4864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726935" y="2407663"/>
            <a:ext cx="4343905" cy="3662677"/>
          </a:xfrm>
          <a:custGeom>
            <a:avLst/>
            <a:gdLst/>
            <a:ahLst/>
            <a:cxnLst/>
            <a:rect r="r" b="b" t="t" l="l"/>
            <a:pathLst>
              <a:path h="3662677" w="4343905">
                <a:moveTo>
                  <a:pt x="0" y="0"/>
                </a:moveTo>
                <a:lnTo>
                  <a:pt x="4343905" y="0"/>
                </a:lnTo>
                <a:lnTo>
                  <a:pt x="4343905" y="3662677"/>
                </a:lnTo>
                <a:lnTo>
                  <a:pt x="0" y="366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6873" y="1073620"/>
            <a:ext cx="5845283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1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01 • CONTEXT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Why build a Digital Twin for VIT Bhopal?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6591" y="1865757"/>
            <a:ext cx="3124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228" y="1865757"/>
            <a:ext cx="7709316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Thephysicalcampusalreadycontainstheinformation.Thechallengeismakingiteasytoaccess at the right moment.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34129" y="2632643"/>
            <a:ext cx="2889533" cy="29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1668" spc="-6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The student experience today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7928" y="3703053"/>
            <a:ext cx="95383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11" spc="-6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43225" y="4247055"/>
            <a:ext cx="95383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11" spc="-6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34024" y="4780464"/>
            <a:ext cx="95383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11" spc="-6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4024" y="3155966"/>
            <a:ext cx="95383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11" spc="-6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5258" y="3232547"/>
            <a:ext cx="2991288" cy="37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247" spc="18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Finding the right building, lab or facility can </a:t>
            </a:r>
            <a:r>
              <a:rPr lang="en-US" sz="1247" spc="18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 time-consuming.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3197" y="3762823"/>
            <a:ext cx="2779509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247" spc="18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Event information can be spread across notices, groups and social channels.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5258" y="4300842"/>
            <a:ext cx="281830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247" spc="18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Visitors and new students may not know where to go.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71222" y="4838786"/>
            <a:ext cx="2955493" cy="86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247" spc="18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There is no single digital layer connecting place + information + context.</a:t>
            </a:r>
          </a:p>
          <a:p>
            <a:pPr algn="l">
              <a:lnSpc>
                <a:spcPts val="1201"/>
              </a:lnSpc>
            </a:pPr>
            <a:r>
              <a:rPr lang="en-US" sz="1008" spc="-2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Opportunity → turn the campus into an interactive information layer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5878887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02 • VISION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One VIT Bhopal. One digital experience.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6591" y="1865757"/>
            <a:ext cx="3124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1228" y="1865757"/>
            <a:ext cx="3597278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digital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twin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becomes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front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door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campus.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1185" y="2861262"/>
            <a:ext cx="1406090" cy="20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"/>
              </a:lnSpc>
            </a:pPr>
            <a:r>
              <a:rPr lang="en-US" sz="1224" spc="-4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PHYSICAL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1380" y="2861262"/>
            <a:ext cx="997648" cy="20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"/>
              </a:lnSpc>
            </a:pPr>
            <a:r>
              <a:rPr lang="en-US" sz="1224" spc="-4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DIGITAL TWIN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3941" y="2861262"/>
            <a:ext cx="1462383" cy="20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"/>
              </a:lnSpc>
            </a:pPr>
            <a:r>
              <a:rPr lang="en-US" sz="1224" spc="-4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SMART EXPERIENCE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598" y="3416427"/>
            <a:ext cx="2133133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Buildings • roads • facilities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0946" y="3416427"/>
            <a:ext cx="2162889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Search • navigate • discover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74088" y="3110427"/>
            <a:ext cx="191205" cy="4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60" spc="-9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4563" y="3110427"/>
            <a:ext cx="191205" cy="4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60" spc="-9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73700" y="3404130"/>
            <a:ext cx="199328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4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Locations • map •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0160" y="4945647"/>
            <a:ext cx="5658641" cy="2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752" spc="-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point is not “just a 3D model.” The point is a useful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7763" y="5212366"/>
            <a:ext cx="4618282" cy="2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752" spc="-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layer over the real VIT Bhopal campus.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B4C3D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5034901" cy="57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2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03 • CORE EXPERIENCE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What the user will actually see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2367" y="2437162"/>
            <a:ext cx="455095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 spc="-1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EXPLORE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2367" y="4320807"/>
            <a:ext cx="523742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 spc="0">
                <a:solidFill>
                  <a:srgbClr val="6D54A6"/>
                </a:solidFill>
                <a:latin typeface="Open Sans"/>
                <a:ea typeface="Open Sans"/>
                <a:cs typeface="Open Sans"/>
                <a:sym typeface="Open Sans"/>
              </a:rPr>
              <a:t>DISCOVER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09202" y="4320807"/>
            <a:ext cx="315878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 spc="-1">
                <a:solidFill>
                  <a:srgbClr val="486278"/>
                </a:solidFill>
                <a:latin typeface="Open Sans"/>
                <a:ea typeface="Open Sans"/>
                <a:cs typeface="Open Sans"/>
                <a:sym typeface="Open Sans"/>
              </a:rPr>
              <a:t>TRUST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09202" y="2437162"/>
            <a:ext cx="416052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37618" y="4320807"/>
            <a:ext cx="439007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>
                <a:solidFill>
                  <a:srgbClr val="BE742A"/>
                </a:solidFill>
                <a:latin typeface="Open Sans"/>
                <a:ea typeface="Open Sans"/>
                <a:cs typeface="Open Sans"/>
                <a:sym typeface="Open Sans"/>
              </a:rPr>
              <a:t>MANAGE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37618" y="2437162"/>
            <a:ext cx="503358" cy="14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827">
                <a:solidFill>
                  <a:srgbClr val="1F877D"/>
                </a:solidFill>
                <a:latin typeface="Open Sans"/>
                <a:ea typeface="Open Sans"/>
                <a:cs typeface="Open Sans"/>
                <a:sym typeface="Open Sans"/>
              </a:rPr>
              <a:t>NAVIGATE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2396" y="4614958"/>
            <a:ext cx="1846212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See what is happening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2396" y="2731322"/>
            <a:ext cx="241256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Interactive map of VIT Bhopal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9317" y="2731322"/>
            <a:ext cx="175563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Find a place instantly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09317" y="4614958"/>
            <a:ext cx="1854213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Know who published 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7723" y="4614958"/>
            <a:ext cx="2200494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Admin controls the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7723" y="2731322"/>
            <a:ext cx="233435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Get campus-level directions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2377" y="3173092"/>
            <a:ext cx="1647663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Campus, buildings, facilities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2377" y="5058299"/>
            <a:ext cx="1800063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Events shown at their locations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09240" y="5058299"/>
            <a:ext cx="1590180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Verified publisher accounts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9240" y="3173092"/>
            <a:ext cx="1600476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8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Building, lab, library, facility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7666" y="5058299"/>
            <a:ext cx="1697126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Locations, events, publishers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7666" y="3173092"/>
            <a:ext cx="1951930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8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 selected point → destination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556" y="849362"/>
            <a:ext cx="4516265" cy="2662173"/>
          </a:xfrm>
          <a:custGeom>
            <a:avLst/>
            <a:gdLst/>
            <a:ahLst/>
            <a:cxnLst/>
            <a:rect r="r" b="b" t="t" l="l"/>
            <a:pathLst>
              <a:path h="2662173" w="4516265">
                <a:moveTo>
                  <a:pt x="0" y="0"/>
                </a:moveTo>
                <a:lnTo>
                  <a:pt x="4516266" y="0"/>
                </a:lnTo>
                <a:lnTo>
                  <a:pt x="4516266" y="2662172"/>
                </a:lnTo>
                <a:lnTo>
                  <a:pt x="0" y="2662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79216" y="849362"/>
            <a:ext cx="4456784" cy="2633997"/>
          </a:xfrm>
          <a:custGeom>
            <a:avLst/>
            <a:gdLst/>
            <a:ahLst/>
            <a:cxnLst/>
            <a:rect r="r" b="b" t="t" l="l"/>
            <a:pathLst>
              <a:path h="2633997" w="4456784">
                <a:moveTo>
                  <a:pt x="0" y="0"/>
                </a:moveTo>
                <a:lnTo>
                  <a:pt x="4456784" y="0"/>
                </a:lnTo>
                <a:lnTo>
                  <a:pt x="4456784" y="2633997"/>
                </a:lnTo>
                <a:lnTo>
                  <a:pt x="0" y="2633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51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0556" y="4150573"/>
            <a:ext cx="4552642" cy="2653427"/>
          </a:xfrm>
          <a:custGeom>
            <a:avLst/>
            <a:gdLst/>
            <a:ahLst/>
            <a:cxnLst/>
            <a:rect r="r" b="b" t="t" l="l"/>
            <a:pathLst>
              <a:path h="2653427" w="4552642">
                <a:moveTo>
                  <a:pt x="0" y="0"/>
                </a:moveTo>
                <a:lnTo>
                  <a:pt x="4552642" y="0"/>
                </a:lnTo>
                <a:lnTo>
                  <a:pt x="4552642" y="2653427"/>
                </a:lnTo>
                <a:lnTo>
                  <a:pt x="0" y="2653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34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79216" y="4034342"/>
            <a:ext cx="4456784" cy="2627111"/>
          </a:xfrm>
          <a:custGeom>
            <a:avLst/>
            <a:gdLst/>
            <a:ahLst/>
            <a:cxnLst/>
            <a:rect r="r" b="b" t="t" l="l"/>
            <a:pathLst>
              <a:path h="2627111" w="4456784">
                <a:moveTo>
                  <a:pt x="0" y="0"/>
                </a:moveTo>
                <a:lnTo>
                  <a:pt x="4456784" y="0"/>
                </a:lnTo>
                <a:lnTo>
                  <a:pt x="4456784" y="2627110"/>
                </a:lnTo>
                <a:lnTo>
                  <a:pt x="0" y="262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28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0229" y="175487"/>
            <a:ext cx="5355167" cy="3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1"/>
              </a:lnSpc>
              <a:spcBef>
                <a:spcPct val="0"/>
              </a:spcBef>
            </a:pPr>
            <a:r>
              <a:rPr lang="en-US" b="true" sz="1865" spc="-7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Implementation and User 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7226" y="3671415"/>
            <a:ext cx="23429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Authentication and Login Module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28446" y="3581880"/>
            <a:ext cx="335833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 Implementation and User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90002" y="6985302"/>
            <a:ext cx="221381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mplementation of Key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9820" y="6895767"/>
            <a:ext cx="285773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Campus Map and Navigation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83145"/>
            <a:ext cx="3110665" cy="6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76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04 • THE DEMO</a:t>
            </a:r>
          </a:p>
          <a:p>
            <a:pPr algn="l">
              <a:lnSpc>
                <a:spcPts val="3457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Real-World Problem: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2792" y="2596515"/>
            <a:ext cx="556470" cy="16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924" spc="-1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IMAGINE..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4682" y="3095901"/>
            <a:ext cx="2415988" cy="133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5" spc="-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“I have an event in 10 minutes -</a:t>
            </a:r>
          </a:p>
          <a:p>
            <a:pPr algn="l">
              <a:lnSpc>
                <a:spcPts val="2628"/>
              </a:lnSpc>
            </a:pPr>
            <a:r>
              <a:rPr lang="en-US" sz="2195" spc="-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where is the venue?”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792" y="4790294"/>
            <a:ext cx="2638549" cy="58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272" spc="19">
                <a:solidFill>
                  <a:srgbClr val="CBDCE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student searches the event → the destination appears → the route is highlighted → event details open.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7324" y="2409787"/>
            <a:ext cx="193510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7324" y="3333283"/>
            <a:ext cx="193510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97324" y="4255294"/>
            <a:ext cx="193510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97324" y="5177399"/>
            <a:ext cx="193510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91713" y="3268894"/>
            <a:ext cx="540325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Locate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91713" y="2346865"/>
            <a:ext cx="561927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91713" y="4192438"/>
            <a:ext cx="698411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Navigate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91713" y="5114487"/>
            <a:ext cx="705964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Discover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8552" y="2354923"/>
            <a:ext cx="1314564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“AI Club Workshop”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8552" y="3276981"/>
            <a:ext cx="1712995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Venue highlighted on 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18552" y="4200506"/>
            <a:ext cx="191459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Route from selected location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18552" y="5122583"/>
            <a:ext cx="2006003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1A232D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Time, organizer &amp; event details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5089950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2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05 • TRUST LAYER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Not every post should look official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7616" y="2161394"/>
            <a:ext cx="6748453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1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digital twin becomes more useful when users can tell which information is verified.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210" y="3068898"/>
            <a:ext cx="609495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ADMIN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3732" y="3772548"/>
            <a:ext cx="2030682" cy="45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8"/>
              </a:lnSpc>
            </a:pPr>
            <a:r>
              <a:rPr lang="en-US" sz="1488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Approves and manages publisher accounts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2489" y="3562912"/>
            <a:ext cx="163220" cy="35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8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8938" y="3562912"/>
            <a:ext cx="163220" cy="35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8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6372" y="3069269"/>
            <a:ext cx="1702641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4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VERIFIED PUBLISHER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0538" y="3069269"/>
            <a:ext cx="545944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1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USERS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96541" y="3701053"/>
            <a:ext cx="1741561" cy="60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6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Creates official events and announcements for their organization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7842" y="3801570"/>
            <a:ext cx="2123561" cy="40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Guest • Student</a:t>
            </a:r>
          </a:p>
          <a:p>
            <a:pPr algn="ctr">
              <a:lnSpc>
                <a:spcPts val="1584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explore trusted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39734" y="5569849"/>
            <a:ext cx="5731774" cy="18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092" spc="-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principle: publish once, verify the source, connect it to the correct campus location.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7384942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2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06 • SYSTEM DESIGN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Simple architecture. Real project. Easy to defend.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3604" y="5042564"/>
            <a:ext cx="293256" cy="16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924" spc="-3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3604" y="4144899"/>
            <a:ext cx="547849" cy="16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924" spc="-2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3604" y="3245777"/>
            <a:ext cx="616077" cy="16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924" spc="-1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04" y="2348122"/>
            <a:ext cx="669465" cy="16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924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USER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7642" y="2305402"/>
            <a:ext cx="2775042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Guest • Student • Publisher • Admin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7642" y="3203029"/>
            <a:ext cx="3882561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React + TypeScript + responsive UI + map interface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7642" y="4102217"/>
            <a:ext cx="3884104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Node.js + Express + REST APIs + role-based access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27642" y="4999825"/>
            <a:ext cx="5036591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PostgreSQL: users • locations • events • announcements • routes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9700" y="2876112"/>
            <a:ext cx="10912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64717E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9700" y="3773748"/>
            <a:ext cx="10912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64717E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19700" y="4671384"/>
            <a:ext cx="109128" cy="24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-5">
                <a:solidFill>
                  <a:srgbClr val="64717E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781" y="5884516"/>
            <a:ext cx="4811497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4">
                <a:solidFill>
                  <a:srgbClr val="64717E"/>
                </a:solidFill>
                <a:latin typeface="Open Sans"/>
                <a:ea typeface="Open Sans"/>
                <a:cs typeface="Open Sans"/>
                <a:sym typeface="Open Sans"/>
              </a:rPr>
              <a:t>Optional future layer: 3D visualization • AI discovery • IoT integrations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9509550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07 • TECHNOLOGY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Chosen for feasibility —not because the stack looks impressive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1634" y="4817297"/>
            <a:ext cx="1003878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2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JWT + bcrypt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1634" y="3573713"/>
            <a:ext cx="1414920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Node.js + Express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634" y="2331644"/>
            <a:ext cx="1478156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React + TypeScript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72922" y="3573713"/>
            <a:ext cx="929402" cy="23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6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2922" y="4836347"/>
            <a:ext cx="958205" cy="42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6" spc="-4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Git + Cloud 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72922" y="2350694"/>
            <a:ext cx="1264025" cy="42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6" spc="-2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Leaflet + OpenStreetMap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9643" y="3585334"/>
            <a:ext cx="2120636" cy="32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REST API and same language family as the frontend.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9643" y="4809839"/>
            <a:ext cx="2301383" cy="1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Secure login + role-based authorization.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9643" y="2343302"/>
            <a:ext cx="2512333" cy="32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031" spc="16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 UI development and clean component structure.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22464" y="4828889"/>
            <a:ext cx="2230260" cy="32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Team collaboration, repeatable builds and online demo.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22464" y="2343302"/>
            <a:ext cx="2393356" cy="32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Practical map layer for campus locations and routes.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22464" y="3585334"/>
            <a:ext cx="2440143" cy="32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031" spc="17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Strong relationships for users, publishers, events and locations.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99973" y="6076198"/>
            <a:ext cx="5563772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Design rule: the MVP works without AI/IoT/3D —those become extensions, not dependencies.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73" y="1073620"/>
            <a:ext cx="7085047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2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08 • EXECUTION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the foundation first. Then make it smarter.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0249" y="1865757"/>
            <a:ext cx="3124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1228" y="1865757"/>
            <a:ext cx="5293185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reliableMVPismore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valuableinajuryroomthanahuge</a:t>
            </a:r>
            <a:r>
              <a:rPr lang="en-US" sz="1188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88" spc="17">
                <a:solidFill>
                  <a:srgbClr val="C8DCF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unfinishedfeaturelist.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6428" y="2562873"/>
            <a:ext cx="10292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89970" y="2562873"/>
            <a:ext cx="10292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2045" y="2562873"/>
            <a:ext cx="10292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35586" y="2562873"/>
            <a:ext cx="10292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7642" y="2562873"/>
            <a:ext cx="102927" cy="25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497" y="3237347"/>
            <a:ext cx="954453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FOUNDATION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3690" y="3237347"/>
            <a:ext cx="119729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41392" y="3237347"/>
            <a:ext cx="919982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FLOWS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21690" y="3237347"/>
            <a:ext cx="698830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76080" y="3237347"/>
            <a:ext cx="535400" cy="2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188" spc="-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POLISH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10" y="3686508"/>
            <a:ext cx="1678705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16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Requirements • UI • 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0048" y="3686508"/>
            <a:ext cx="1734722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17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Map • search • location details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13395" y="3705558"/>
            <a:ext cx="1208237" cy="31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008" spc="17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Navigation • events • announcements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97088" y="3686508"/>
            <a:ext cx="1389736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16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Authentication • verified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41868" y="3838985"/>
            <a:ext cx="1069562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16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publishers • admin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36584" y="3686508"/>
            <a:ext cx="1636262" cy="18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8" spc="17">
                <a:solidFill>
                  <a:srgbClr val="C4D3E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Testing • deployment • demo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89651" y="2624261"/>
            <a:ext cx="123111" cy="2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584" spc="-6">
                <a:solidFill>
                  <a:srgbClr val="5B9FD6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63212" y="2624261"/>
            <a:ext cx="123111" cy="2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584" spc="-6">
                <a:solidFill>
                  <a:srgbClr val="5B9FD6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35230" y="2624261"/>
            <a:ext cx="123111" cy="2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584" spc="-6">
                <a:solidFill>
                  <a:srgbClr val="5B9FD6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07314" y="2624261"/>
            <a:ext cx="123111" cy="2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584" spc="-6">
                <a:solidFill>
                  <a:srgbClr val="5B9FD6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9887" y="5049774"/>
            <a:ext cx="8327584" cy="22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"/>
              </a:lnSpc>
            </a:pPr>
            <a:r>
              <a:rPr lang="en-US" sz="1272" spc="-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Future-ready, not future-dependent: 3D campus • AI event discovery • analytics • IoT when real data is available.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14464" y="6559163"/>
            <a:ext cx="1551080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B4C3D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709165"/>
            <a:ext cx="10819381" cy="6140701"/>
          </a:xfrm>
          <a:custGeom>
            <a:avLst/>
            <a:gdLst/>
            <a:ahLst/>
            <a:cxnLst/>
            <a:rect r="r" b="b" t="t" l="l"/>
            <a:pathLst>
              <a:path h="6140701" w="10819381">
                <a:moveTo>
                  <a:pt x="0" y="0"/>
                </a:moveTo>
                <a:lnTo>
                  <a:pt x="10819381" y="0"/>
                </a:lnTo>
                <a:lnTo>
                  <a:pt x="10819381" y="6140701"/>
                </a:lnTo>
                <a:lnTo>
                  <a:pt x="0" y="614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7522" y="3694919"/>
            <a:ext cx="527790" cy="1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 spc="-2">
                <a:solidFill>
                  <a:srgbClr val="204D8C"/>
                </a:solidFill>
                <a:latin typeface="Open Sans"/>
                <a:ea typeface="Open Sans"/>
                <a:cs typeface="Open Sans"/>
                <a:sym typeface="Open Sans"/>
              </a:rPr>
              <a:t>PHYSICAL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26466" y="3694919"/>
            <a:ext cx="412042" cy="1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DIGITAL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0498" y="3694919"/>
            <a:ext cx="410909" cy="1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 spc="-1">
                <a:solidFill>
                  <a:srgbClr val="1F877D"/>
                </a:solidFill>
                <a:latin typeface="Open Sans"/>
                <a:ea typeface="Open Sans"/>
                <a:cs typeface="Open Sans"/>
                <a:sym typeface="Open Sans"/>
              </a:rPr>
              <a:t>USEFUL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6873" y="1073620"/>
            <a:ext cx="8517941" cy="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876" spc="-3">
                <a:solidFill>
                  <a:srgbClr val="E46930"/>
                </a:solidFill>
                <a:latin typeface="Open Sans"/>
                <a:ea typeface="Open Sans"/>
                <a:cs typeface="Open Sans"/>
                <a:sym typeface="Open Sans"/>
              </a:rPr>
              <a:t>09 • IMPACT</a:t>
            </a:r>
          </a:p>
          <a:p>
            <a:pPr algn="l">
              <a:lnSpc>
                <a:spcPts val="3625"/>
              </a:lnSpc>
            </a:pPr>
            <a:r>
              <a:rPr lang="en-US" sz="2544" spc="-10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What makes this a Digital Twin —not just a campus map?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870" y="2445220"/>
            <a:ext cx="9310345" cy="29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1668" spc="-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digital twin connects the real campus with a digital representation that carries useful context.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8121" y="4134221"/>
            <a:ext cx="1481652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VIT Bhopal campus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9071" y="4134221"/>
            <a:ext cx="2651246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Locations + events + roles + routes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12993" y="4122029"/>
            <a:ext cx="2259330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Search + navigation + trusted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57606" y="4323226"/>
            <a:ext cx="911219" cy="2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information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115" y="5292071"/>
            <a:ext cx="9562405" cy="25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452" spc="-5">
                <a:solidFill>
                  <a:srgbClr val="0A182C"/>
                </a:solidFill>
                <a:latin typeface="Open Sans"/>
                <a:ea typeface="Open Sans"/>
                <a:cs typeface="Open Sans"/>
                <a:sym typeface="Open Sans"/>
              </a:rPr>
              <a:t>The long-term vision: VIT Bhopal becomes a campus you can understand before you even reach the right building.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66170" y="5917282"/>
            <a:ext cx="990638" cy="18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092" spc="-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THANK YOU •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4182" y="6559163"/>
            <a:ext cx="1603124" cy="1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"/>
              </a:lnSpc>
            </a:pPr>
            <a:r>
              <a:rPr lang="en-US" sz="743" spc="12">
                <a:solidFill>
                  <a:srgbClr val="64717E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VIT Bhopal University Digital Twin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DAHXhfojn3A</dc:identifier>
  <dcterms:modified xsi:type="dcterms:W3CDTF">2011-08-01T06:04:30Z</dcterms:modified>
  <cp:revision>1</cp:revision>
  <dc:title>03 • CORE EXPERIENCE What the user will actually see</dc:title>
</cp:coreProperties>
</file>